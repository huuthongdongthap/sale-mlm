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Doanh thu (triệu)</c:v>
                </c:pt>
              </c:strCache>
            </c:strRef>
          </c:tx>
          <c:spPr>
            <a:solidFill>
              <a:srgbClr val="C0392B"/>
            </a:solidFill>
            <a:ln w="381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18</c:v>
                </c:pt>
                <c:pt idx="2">
                  <c:v>45</c:v>
                </c:pt>
                <c:pt idx="3">
                  <c:v>95</c:v>
                </c:pt>
                <c:pt idx="4">
                  <c:v>153</c:v>
                </c:pt>
                <c:pt idx="5">
                  <c:v>250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OPEX (triệu)</c:v>
                </c:pt>
              </c:strCache>
            </c:strRef>
          </c:tx>
          <c:spPr>
            <a:solidFill>
              <a:srgbClr val="5A6275"/>
            </a:solidFill>
            <a:ln w="38100" cap="flat">
              <a:solidFill>
                <a:srgbClr val="5A627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A6275"/>
              </a:solidFill>
              <a:ln w="9525" cap="flat">
                <a:solidFill>
                  <a:srgbClr val="5A627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4.1</c:v>
                </c:pt>
                <c:pt idx="1">
                  <c:v>8</c:v>
                </c:pt>
                <c:pt idx="2">
                  <c:v>16</c:v>
                </c:pt>
                <c:pt idx="3">
                  <c:v>25</c:v>
                </c:pt>
                <c:pt idx="4">
                  <c:v>34</c:v>
                </c:pt>
                <c:pt idx="5">
                  <c:v>50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2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DBC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2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27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274320"/>
            <a:ext cx="822960" cy="822960"/>
          </a:xfrm>
          <a:prstGeom prst="hexagon">
            <a:avLst/>
          </a:prstGeom>
          <a:solidFill>
            <a:srgbClr val="FFC734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914400"/>
            <a:ext cx="640080" cy="640080"/>
          </a:xfrm>
          <a:prstGeom prst="hexagon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1051560"/>
            <a:ext cx="502920" cy="502920"/>
          </a:xfrm>
          <a:prstGeom prst="hexagon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FFC7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PLAN  ·  Q3-2026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DROPPII FUNNEL OS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D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bán hàng tự động khai vấn — Mở rộng Hive Warfare Academy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36576" cy="822960"/>
          </a:xfrm>
          <a:prstGeom prst="rect">
            <a:avLst/>
          </a:prstGeom>
          <a:solidFill>
            <a:srgbClr val="FFC734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2461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C7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Bất chiến tự nhiên thành </a:t>
            </a:r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Thiện chi thiện giả, bất chiến nhi khuất nhân chi binh dã.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36576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C7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Tôn Tử, Thiên Mưu Công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572000"/>
            <a:ext cx="7863840" cy="0"/>
          </a:xfrm>
          <a:prstGeom prst="line">
            <a:avLst/>
          </a:prstGeom>
          <a:noFill/>
          <a:ln w="9525">
            <a:solidFill>
              <a:srgbClr val="FFC7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9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bày bởi Auto-CTO Hive Warfare  ·  v1.0  ·  2026-05-08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FFC73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nỗi đau Droppii hiện tại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Academy đào tạo CTV rất tốt — nhưng đầu phễu vẫn để trống. Hệ quả: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2606040" cy="2788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BC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2606040" cy="73152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6596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24688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5600" dirty="0"/>
          </a:p>
        </p:txBody>
      </p:sp>
      <p:sp>
        <p:nvSpPr>
          <p:cNvPr id="10" name="Text 7"/>
          <p:cNvSpPr/>
          <p:nvPr/>
        </p:nvSpPr>
        <p:spPr>
          <a:xfrm>
            <a:off x="731520" y="3246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Tân Binh bỏ cuộc trong 4 tuần đầu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37490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phải tự cold-call 15 connect/ngày, không có lead warm sẵn. Mỗi CTV đi qua đường khó nhất một mình.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91840" y="1691640"/>
            <a:ext cx="2606040" cy="2788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BC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91840" y="1691640"/>
            <a:ext cx="2606040" cy="73152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96596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20440" y="24688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5600" dirty="0"/>
          </a:p>
        </p:txBody>
      </p:sp>
      <p:sp>
        <p:nvSpPr>
          <p:cNvPr id="16" name="Text 12"/>
          <p:cNvSpPr/>
          <p:nvPr/>
        </p:nvSpPr>
        <p:spPr>
          <a:xfrm>
            <a:off x="3520440" y="3246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lead magnet tự động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520440" y="37490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phễu phụ thuộc 100% kỹ năng cá nhân. Khi CTV nghỉ phép, doanh thu nhánh đó đứng.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080760" y="1691640"/>
            <a:ext cx="2606040" cy="2788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BC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80760" y="1691640"/>
            <a:ext cx="2606040" cy="73152"/>
          </a:xfrm>
          <a:prstGeom prst="rect">
            <a:avLst/>
          </a:prstGeom>
          <a:solidFill>
            <a:srgbClr val="1A3A75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96596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09360" y="24688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A3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1×</a:t>
            </a:r>
            <a:endParaRPr lang="en-US" sz="5600" dirty="0"/>
          </a:p>
        </p:txBody>
      </p:sp>
      <p:sp>
        <p:nvSpPr>
          <p:cNvPr id="22" name="Text 17"/>
          <p:cNvSpPr/>
          <p:nvPr/>
        </p:nvSpPr>
        <p:spPr>
          <a:xfrm>
            <a:off x="6309360" y="3246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Bậc thang sản phẩm — không có upsell tự động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309360" y="37490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mua lần đầu xong là dừng. Không có cơ chế đưa khách từ &lt;1tr lên 5tr lên combo 90+ ngày.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0DBC8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7B8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DROPPII FUNNEL OS  /  MASTER PLAN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7315200" y="4864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FFC73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Phễu 4 tầng tự đóng — khách tự chốt qua khai vấn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tầng lọc khách phù hợp; AI làm phần lặp đi lặp lại; CTV chỉ vào những trận quan trọng.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7680960" cy="457200"/>
          </a:xfrm>
          <a:prstGeom prst="rect">
            <a:avLst/>
          </a:prstGeom>
          <a:solidFill>
            <a:srgbClr val="FFC73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91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Mật hoa</a:t>
            </a:r>
            <a:pPr indent="0" marL="0">
              <a:buNone/>
            </a:pPr>
            <a:r>
              <a:rPr lang="en-US" sz="1100" dirty="0">
                <a:solidFill>
                  <a:srgbClr val="FFE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AI Coach 1:1, ebook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0" y="1691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80160" y="2203704"/>
            <a:ext cx="6583680" cy="4572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2203704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</a:t>
            </a:r>
            <a:pPr indent="0" marL="0">
              <a:buNone/>
            </a:pPr>
            <a:r>
              <a:rPr lang="en-US" sz="1100" dirty="0">
                <a:solidFill>
                  <a:srgbClr val="FFE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Trial pack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220370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&lt;1tr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0" y="2715768"/>
            <a:ext cx="5486400" cy="457200"/>
          </a:xfrm>
          <a:prstGeom prst="rect">
            <a:avLst/>
          </a:prstGeom>
          <a:solidFill>
            <a:srgbClr val="1A3A75"/>
          </a:solidFill>
          <a:ln/>
        </p:spPr>
      </p:sp>
      <p:sp>
        <p:nvSpPr>
          <p:cNvPr id="13" name="Text 11"/>
          <p:cNvSpPr/>
          <p:nvPr/>
        </p:nvSpPr>
        <p:spPr>
          <a:xfrm>
            <a:off x="2011680" y="27157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Hành</a:t>
            </a:r>
            <a:pPr indent="0" marL="0">
              <a:buNone/>
            </a:pPr>
            <a:r>
              <a:rPr lang="en-US" sz="1100" dirty="0">
                <a:solidFill>
                  <a:srgbClr val="FFE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Active 30-45 ngày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35040" y="27157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3-5tr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77440" y="3227832"/>
            <a:ext cx="4389120" cy="457200"/>
          </a:xfrm>
          <a:prstGeom prst="rect">
            <a:avLst/>
          </a:prstGeom>
          <a:solidFill>
            <a:srgbClr val="0F2A5F"/>
          </a:solidFill>
          <a:ln/>
        </p:spPr>
      </p:sp>
      <p:sp>
        <p:nvSpPr>
          <p:cNvPr id="16" name="Text 14"/>
          <p:cNvSpPr/>
          <p:nvPr/>
        </p:nvSpPr>
        <p:spPr>
          <a:xfrm>
            <a:off x="2560320" y="32278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Hóa</a:t>
            </a:r>
            <a:pPr indent="0" marL="0">
              <a:buNone/>
            </a:pPr>
            <a:r>
              <a:rPr lang="en-US" sz="1100" dirty="0">
                <a:solidFill>
                  <a:srgbClr val="FFE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Combo chuyển hóa 90+ ngày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0" y="322783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10-25tr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26080" y="3739896"/>
            <a:ext cx="329184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3108960" y="373989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</a:t>
            </a:r>
            <a:pPr indent="0" marL="0">
              <a:buNone/>
            </a:pPr>
            <a:r>
              <a:rPr lang="en-US" sz="1100" dirty="0">
                <a:solidFill>
                  <a:srgbClr val="FFE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→ CTV (Academy)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373989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Partner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ĐƯỜNG TIẾN QUÂN CỦA KHÁCH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mục tiêu:  </a:t>
            </a:r>
            <a:pPr algn="ctr"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Visit→L0 </a:t>
            </a:r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3-8%</a:t>
            </a:r>
            <a:pPr algn="ctr"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L0→L1 </a:t>
            </a:r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≥8%</a:t>
            </a:r>
            <a:pPr algn="ctr"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L1→L2 </a:t>
            </a:r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≥25%</a:t>
            </a:r>
            <a:pPr algn="ctr"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L2→L3 </a:t>
            </a:r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≥30%</a:t>
            </a:r>
            <a:pPr algn="ctr"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L3→L4 </a:t>
            </a:r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≥15%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0DB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7B8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DROPPII FUNNEL OS  /  MASTER PLAN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315200" y="4864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FC7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CHIẾN LƯỢC  ·  THIÊN MƯU CÔNG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chương Binh Pháp vận dụng vào Funnel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36576" cy="822960"/>
          </a:xfrm>
          <a:prstGeom prst="rect">
            <a:avLst/>
          </a:prstGeom>
          <a:solidFill>
            <a:srgbClr val="FFC734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32588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E9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Bất chiến tự nhiên thành — kẻ giỏi nhất là kẻ thắng mà không cần đánh.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231136"/>
            <a:ext cx="1097280" cy="237744"/>
          </a:xfrm>
          <a:prstGeom prst="rect">
            <a:avLst/>
          </a:prstGeom>
          <a:solidFill>
            <a:srgbClr val="FFC73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2311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F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45920" y="21945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Phễu 4 level làm master plan, mỗi gate có ngưỡng rõ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542032"/>
            <a:ext cx="1097280" cy="237744"/>
          </a:xfrm>
          <a:prstGeom prst="rect">
            <a:avLst/>
          </a:prstGeom>
          <a:solidFill>
            <a:srgbClr val="FFC73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54203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F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 CHIẾN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45920" y="250545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≤ 2.500đ/lead; CAC &lt; 80k cho L1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852928"/>
            <a:ext cx="1097280" cy="237744"/>
          </a:xfrm>
          <a:prstGeom prst="rect">
            <a:avLst/>
          </a:prstGeom>
          <a:solidFill>
            <a:srgbClr val="FFC734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8529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F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MƯU CÔNG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45920" y="28163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khai vấn — khách tự chốt, KHÔNG hard-sell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163824"/>
            <a:ext cx="1097280" cy="237744"/>
          </a:xfrm>
          <a:prstGeom prst="rect">
            <a:avLst/>
          </a:prstGeom>
          <a:solidFill>
            <a:srgbClr val="FFC734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16382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F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45920" y="31272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Bậc thang sản phẩm &lt;1tr → 5tr → 15tr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1097280" cy="237744"/>
          </a:xfrm>
          <a:prstGeom prst="rect">
            <a:avLst/>
          </a:prstGeom>
          <a:solidFill>
            <a:srgbClr val="FFC734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4747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F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THẾ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45920" y="34381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Companion daily 30-90 ngày tạo đà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785616"/>
            <a:ext cx="1097280" cy="237744"/>
          </a:xfrm>
          <a:prstGeom prst="rect">
            <a:avLst/>
          </a:prstGeom>
          <a:solidFill>
            <a:srgbClr val="FFC73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78561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F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 THỰC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645920" y="37490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3 phiên bản coach, 2 giá L1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096512"/>
            <a:ext cx="1097280" cy="237744"/>
          </a:xfrm>
          <a:prstGeom prst="rect">
            <a:avLst/>
          </a:prstGeom>
          <a:solidFill>
            <a:srgbClr val="FFC734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096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F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QUÂN TRANH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645920" y="405993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trả lời lead trong 90 giây 24/7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2231136"/>
            <a:ext cx="1097280" cy="237744"/>
          </a:xfrm>
          <a:prstGeom prst="rect">
            <a:avLst/>
          </a:prstGeom>
          <a:solidFill>
            <a:srgbClr val="FFC734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22311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F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CỬU BIẾN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0" y="21945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 9 nhánh prompt theo pain × persona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2542032"/>
            <a:ext cx="1097280" cy="237744"/>
          </a:xfrm>
          <a:prstGeom prst="rect">
            <a:avLst/>
          </a:prstGeom>
          <a:solidFill>
            <a:srgbClr val="FFC734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254203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F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HÀNH QUÂN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0" y="250545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drop-off ngày 7/14/21 → ping leader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2852928"/>
            <a:ext cx="1097280" cy="237744"/>
          </a:xfrm>
          <a:prstGeom prst="rect">
            <a:avLst/>
          </a:prstGeom>
          <a:solidFill>
            <a:srgbClr val="FFC734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28529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F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ĐỊA HÌNH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43600" y="28163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khúc: tiêu hóa, ngủ, năng lượng, cân nặng, da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3163824"/>
            <a:ext cx="1097280" cy="237744"/>
          </a:xfrm>
          <a:prstGeom prst="rect">
            <a:avLst/>
          </a:prstGeom>
          <a:solidFill>
            <a:srgbClr val="FFC734"/>
          </a:solidFill>
          <a:ln/>
        </p:spPr>
      </p:sp>
      <p:sp>
        <p:nvSpPr>
          <p:cNvPr id="37" name="Text 35"/>
          <p:cNvSpPr/>
          <p:nvPr/>
        </p:nvSpPr>
        <p:spPr>
          <a:xfrm>
            <a:off x="4754880" y="316382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F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CỬU ĐỊA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943600" y="31272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state machine 9 trạng thái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3474720"/>
            <a:ext cx="1097280" cy="237744"/>
          </a:xfrm>
          <a:prstGeom prst="rect">
            <a:avLst/>
          </a:prstGeom>
          <a:solidFill>
            <a:srgbClr val="FFC734"/>
          </a:solidFill>
          <a:ln/>
        </p:spPr>
      </p:sp>
      <p:sp>
        <p:nvSpPr>
          <p:cNvPr id="40" name="Text 38"/>
          <p:cNvSpPr/>
          <p:nvPr/>
        </p:nvSpPr>
        <p:spPr>
          <a:xfrm>
            <a:off x="4754880" y="34747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F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HỎA CÔNG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943600" y="34381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launch 1 lần/tháng push L2 → L3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54880" y="3785616"/>
            <a:ext cx="1097280" cy="237744"/>
          </a:xfrm>
          <a:prstGeom prst="rect">
            <a:avLst/>
          </a:prstGeom>
          <a:solidFill>
            <a:srgbClr val="FFC734"/>
          </a:solidFill>
          <a:ln/>
        </p:spPr>
      </p:sp>
      <p:sp>
        <p:nvSpPr>
          <p:cNvPr id="43" name="Text 41"/>
          <p:cNvSpPr/>
          <p:nvPr/>
        </p:nvSpPr>
        <p:spPr>
          <a:xfrm>
            <a:off x="4754880" y="378561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F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DỤNG GIÁN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943600" y="37490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analytics — leader quyết bằng data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0DBC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7B8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DROPPII FUNNEL OS  /  MASTER PLAN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315200" y="4864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FFC73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HỆ THỐNG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Kiến trúc 3 tầng — Tri-Layer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7863840" cy="960120"/>
          </a:xfrm>
          <a:prstGeom prst="rect">
            <a:avLst/>
          </a:prstGeom>
          <a:solidFill>
            <a:srgbClr val="FFC734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508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F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BUSINESS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70992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&amp; CTV-facing apps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apps/funnel  (landing, AI coach, shop, dashboard khách)   ·   apps/academy  (check-in, learning, community CTV)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2542032"/>
            <a:ext cx="7863840" cy="960120"/>
          </a:xfrm>
          <a:prstGeom prst="rect">
            <a:avLst/>
          </a:prstGeom>
          <a:solidFill>
            <a:srgbClr val="0F2A5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633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AGENTIC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28346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AI Agents thống nhất qua 1 LLM Gateway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318211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Funnel: Discovery Coach · Whisperer · Matchmaker · Health Companion · Partner Scout       Academy: Training Coach · Retention Guard · Campaign Cmdr · PSN Analyst · Content Engine · Onboarding Bot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3666744"/>
            <a:ext cx="7863840" cy="960120"/>
          </a:xfrm>
          <a:prstGeom prst="rect">
            <a:avLst/>
          </a:prstGeom>
          <a:solidFill>
            <a:srgbClr val="5A6275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758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DATA &amp; GOVERNANCE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39593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Cloudflare D1 — KHÔNG tách database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430682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cũ 7 (users, habits, lessons, progress, points, posts, alerts)   +   8 bảng mới (leads, products, orders, order_items, coach_sessions, journey_events, health_progress, ctv_invites)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0080" y="461772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Triết lý:  </a:t>
            </a:r>
            <a:pPr indent="0" marL="0">
              <a:buNone/>
            </a:pPr>
            <a:r>
              <a:rPr lang="en-US" sz="100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tổ ong, nhiều cửa ra vào — không phải hai tổ ong cạnh nhau.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0DB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7B8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DROPPII FUNNEL OS  /  MASTER PLAN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315200" y="4864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FFC73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 CHỨC THỰC THI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Phân vai Hive Colony — mỗi loài ong một việc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840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BC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91440" cy="9601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61848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728216"/>
            <a:ext cx="283464" cy="2834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5361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Queen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463040" y="18288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cao nhất / Mentor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463040" y="20299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Chính sách, ngân sách, brand, OA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572000" y="1371600"/>
            <a:ext cx="3840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BC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0" y="1371600"/>
            <a:ext cx="91440" cy="9601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Shape 11"/>
          <p:cNvSpPr/>
          <p:nvPr/>
        </p:nvSpPr>
        <p:spPr>
          <a:xfrm>
            <a:off x="4846320" y="1618488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728216"/>
            <a:ext cx="283464" cy="28346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86400" y="15361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Royal Guard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486400" y="18288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2-3 sao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486400" y="20299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invite L3→L4, review case khó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48640" y="2450592"/>
            <a:ext cx="3840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BC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48640" y="2450592"/>
            <a:ext cx="91440" cy="960120"/>
          </a:xfrm>
          <a:prstGeom prst="rect">
            <a:avLst/>
          </a:prstGeom>
          <a:solidFill>
            <a:srgbClr val="0F2A5F"/>
          </a:solidFill>
          <a:ln/>
        </p:spPr>
      </p:sp>
      <p:sp>
        <p:nvSpPr>
          <p:cNvPr id="21" name="Shape 17"/>
          <p:cNvSpPr/>
          <p:nvPr/>
        </p:nvSpPr>
        <p:spPr>
          <a:xfrm>
            <a:off x="822960" y="2697480"/>
            <a:ext cx="502920" cy="502920"/>
          </a:xfrm>
          <a:prstGeom prst="ellipse">
            <a:avLst/>
          </a:prstGeom>
          <a:solidFill>
            <a:srgbClr val="0F2A5F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807208"/>
            <a:ext cx="283464" cy="28346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463040" y="261518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Scout Bee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1463040" y="290779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CTV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1463040" y="3108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Sáng tạo content L0, chạy ads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4572000" y="2450592"/>
            <a:ext cx="3840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BC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572000" y="2450592"/>
            <a:ext cx="91440" cy="960120"/>
          </a:xfrm>
          <a:prstGeom prst="rect">
            <a:avLst/>
          </a:prstGeom>
          <a:solidFill>
            <a:srgbClr val="1A3A75"/>
          </a:solidFill>
          <a:ln/>
        </p:spPr>
      </p:sp>
      <p:sp>
        <p:nvSpPr>
          <p:cNvPr id="28" name="Shape 23"/>
          <p:cNvSpPr/>
          <p:nvPr/>
        </p:nvSpPr>
        <p:spPr>
          <a:xfrm>
            <a:off x="4846320" y="2697480"/>
            <a:ext cx="502920" cy="502920"/>
          </a:xfrm>
          <a:prstGeom prst="ellipse">
            <a:avLst/>
          </a:prstGeom>
          <a:solidFill>
            <a:srgbClr val="1A3A75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2807208"/>
            <a:ext cx="283464" cy="28346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486400" y="261518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Forager Bee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5486400" y="290779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CTV bán hàng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5486400" y="3108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L1 → L2 → L3 từ warm lead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548640" y="3529584"/>
            <a:ext cx="3840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BC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548640" y="3529584"/>
            <a:ext cx="91440" cy="960120"/>
          </a:xfrm>
          <a:prstGeom prst="rect">
            <a:avLst/>
          </a:prstGeom>
          <a:solidFill>
            <a:srgbClr val="2A8C5A"/>
          </a:solidFill>
          <a:ln/>
        </p:spPr>
      </p:sp>
      <p:sp>
        <p:nvSpPr>
          <p:cNvPr id="35" name="Shape 29"/>
          <p:cNvSpPr/>
          <p:nvPr/>
        </p:nvSpPr>
        <p:spPr>
          <a:xfrm>
            <a:off x="822960" y="3776472"/>
            <a:ext cx="502920" cy="502920"/>
          </a:xfrm>
          <a:prstGeom prst="ellipse">
            <a:avLst/>
          </a:prstGeom>
          <a:solidFill>
            <a:srgbClr val="2A8C5A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3886200"/>
            <a:ext cx="283464" cy="283464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463040" y="369417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Nurse Bee</a:t>
            </a:r>
            <a:endParaRPr lang="en-US" sz="1500" dirty="0"/>
          </a:p>
        </p:txBody>
      </p:sp>
      <p:sp>
        <p:nvSpPr>
          <p:cNvPr id="38" name="Text 31"/>
          <p:cNvSpPr/>
          <p:nvPr/>
        </p:nvSpPr>
        <p:spPr>
          <a:xfrm>
            <a:off x="1463040" y="398678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CTV chăm sóc khách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1463040" y="41879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 hành khách L2/L3 30-90 ngày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4572000" y="3529584"/>
            <a:ext cx="3840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BC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4572000" y="3529584"/>
            <a:ext cx="91440" cy="960120"/>
          </a:xfrm>
          <a:prstGeom prst="rect">
            <a:avLst/>
          </a:prstGeom>
          <a:solidFill>
            <a:srgbClr val="5A6275"/>
          </a:solidFill>
          <a:ln/>
        </p:spPr>
      </p:sp>
      <p:sp>
        <p:nvSpPr>
          <p:cNvPr id="42" name="Shape 35"/>
          <p:cNvSpPr/>
          <p:nvPr/>
        </p:nvSpPr>
        <p:spPr>
          <a:xfrm>
            <a:off x="4846320" y="3776472"/>
            <a:ext cx="502920" cy="502920"/>
          </a:xfrm>
          <a:prstGeom prst="ellipse">
            <a:avLst/>
          </a:prstGeom>
          <a:solidFill>
            <a:srgbClr val="5A6275"/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3886200"/>
            <a:ext cx="283464" cy="283464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5486400" y="369417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Drone Bot</a:t>
            </a:r>
            <a:endParaRPr lang="en-US" sz="1500" dirty="0"/>
          </a:p>
        </p:txBody>
      </p:sp>
      <p:sp>
        <p:nvSpPr>
          <p:cNvPr id="45" name="Text 37"/>
          <p:cNvSpPr/>
          <p:nvPr/>
        </p:nvSpPr>
        <p:spPr>
          <a:xfrm>
            <a:off x="5486400" y="398678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AI Agents</a:t>
            </a:r>
            <a:endParaRPr lang="en-US" sz="1000" dirty="0"/>
          </a:p>
        </p:txBody>
      </p:sp>
      <p:sp>
        <p:nvSpPr>
          <p:cNvPr id="46" name="Text 38"/>
          <p:cNvSpPr/>
          <p:nvPr/>
        </p:nvSpPr>
        <p:spPr>
          <a:xfrm>
            <a:off x="5486400" y="41879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60-80% công việc routine — 24/7</a:t>
            </a:r>
            <a:endParaRPr lang="en-US" sz="950" dirty="0"/>
          </a:p>
        </p:txBody>
      </p:sp>
      <p:sp>
        <p:nvSpPr>
          <p:cNvPr id="47" name="Text 39"/>
          <p:cNvSpPr/>
          <p:nvPr/>
        </p:nvSpPr>
        <p:spPr>
          <a:xfrm>
            <a:off x="548640" y="45720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Tổ ong mạnh nhờ hệ thống — vai trò rõ — luật rõ — luôn vận hành kể cả khi không có Queen.</a:t>
            </a:r>
            <a:endParaRPr lang="en-US" sz="1100" dirty="0"/>
          </a:p>
        </p:txBody>
      </p:sp>
      <p:sp>
        <p:nvSpPr>
          <p:cNvPr id="48" name="Shape 40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0DBC8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7B8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DROPPII FUNNEL OS  /  MASTER PLAN</a:t>
            </a:r>
            <a:endParaRPr lang="en-US" sz="850" dirty="0"/>
          </a:p>
        </p:txBody>
      </p:sp>
      <p:sp>
        <p:nvSpPr>
          <p:cNvPr id="50" name="Text 42"/>
          <p:cNvSpPr/>
          <p:nvPr/>
        </p:nvSpPr>
        <p:spPr>
          <a:xfrm>
            <a:off x="7315200" y="4864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FFC73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HIVE WARFARE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Bridge L3 → L4: khách hàng hóa đối tác liền mạch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65760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FFC7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3657600" cy="457200"/>
          </a:xfrm>
          <a:prstGeom prst="rect">
            <a:avLst/>
          </a:prstGeom>
          <a:solidFill>
            <a:srgbClr val="FFC73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F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OS  ·  Customer side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  Mật hoa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 Tin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 Hành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 Hóa  ◀── Partner Scout flag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0" y="1417320"/>
            <a:ext cx="365760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F2A5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0" y="1417320"/>
            <a:ext cx="3657600" cy="457200"/>
          </a:xfrm>
          <a:prstGeom prst="rect">
            <a:avLst/>
          </a:prstGeom>
          <a:solidFill>
            <a:srgbClr val="0F2A5F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417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ACADEMY  ·  CTV side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12080" y="2057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 Tân Binh  ◀── L4 đổ vào đây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0" y="2560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 Chiến Binh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0" y="3063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 Chỉ Huy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12080" y="3566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Tướng Quân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 rot="5400000">
            <a:off x="4206240" y="2697480"/>
            <a:ext cx="777240" cy="365760"/>
          </a:xfrm>
          <a:prstGeom prst="rtTriangle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4160520" y="31089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solidFill>
            <a:srgbClr val="0F2A5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4348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C7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Lợi thế Phương án C: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L3→L4 chỉ là </a:t>
            </a:r>
            <a:pPr indent="0" marL="0">
              <a:buNone/>
            </a:pPr>
            <a:r>
              <a:rPr lang="en-US" sz="1050" b="1" dirty="0">
                <a:solidFill>
                  <a:srgbClr val="FFC7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users SET persona='ctv'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không cần ETL, không mất data.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0DB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7B8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DROPPII FUNNEL OS  /  MASTER PLAN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315200" y="4864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FFC73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 ĐỊNH KIẾN TRÚC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phương án kiến trúc — phân tích trade-off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0604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BC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5A627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34440" y="161848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Monolith chung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2A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ĐIỂM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0080" y="245059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ít nhất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1 lần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NHƯỢC ĐIỂM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" y="350215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2 persona lẫn lộn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landing nhiễm noise LMS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scale 2 team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4206240"/>
            <a:ext cx="2240280" cy="274320"/>
          </a:xfrm>
          <a:prstGeom prst="rect">
            <a:avLst/>
          </a:prstGeom>
          <a:solidFill>
            <a:srgbClr val="F2EBD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2062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8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Không phù hợp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1371600"/>
            <a:ext cx="260604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BC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29000" y="155448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023360" y="161848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Tách hoàn toàn 2 repo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29000" y="22402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2A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ĐIỂM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29000" y="245059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tuyệt đối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độc lập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29000" y="329184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NHƯỢC ĐIỂM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29000" y="350215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Mất khả năng L3→L4 liền mạch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auth + AI cost 2x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2 dashboard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29000" y="4206240"/>
            <a:ext cx="2240280" cy="274320"/>
          </a:xfrm>
          <a:prstGeom prst="rect">
            <a:avLst/>
          </a:prstGeom>
          <a:solidFill>
            <a:srgbClr val="F2EBDB"/>
          </a:solidFill>
          <a:ln/>
        </p:spPr>
      </p:sp>
      <p:sp>
        <p:nvSpPr>
          <p:cNvPr id="24" name="Text 22"/>
          <p:cNvSpPr/>
          <p:nvPr/>
        </p:nvSpPr>
        <p:spPr>
          <a:xfrm>
            <a:off x="3429000" y="42062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8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Không phù hợp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35040" y="1371600"/>
            <a:ext cx="2606040" cy="3246120"/>
          </a:xfrm>
          <a:prstGeom prst="rect">
            <a:avLst/>
          </a:prstGeom>
          <a:solidFill>
            <a:srgbClr val="FFFFFF"/>
          </a:solidFill>
          <a:ln w="31750">
            <a:solidFill>
              <a:srgbClr val="FFC7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1554480"/>
            <a:ext cx="502920" cy="502920"/>
          </a:xfrm>
          <a:prstGeom prst="ellipse">
            <a:avLst/>
          </a:prstGeom>
          <a:solidFill>
            <a:srgbClr val="2A8C5A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812280" y="161848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Monorepo + Shared Core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0" y="22402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2A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ĐIỂM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217920" y="245059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L3→L4 chỉ 1 dòng SQL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11 AI agents — tiết kiệm 40% LLM cost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độc lập, share infra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1 dashboard 360°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17920" y="329184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NHƯỢC ĐIỂM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217920" y="350215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pnpm workspace 1-2h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backup D1 nghiêm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17920" y="4206240"/>
            <a:ext cx="2240280" cy="274320"/>
          </a:xfrm>
          <a:prstGeom prst="rect">
            <a:avLst/>
          </a:prstGeom>
          <a:solidFill>
            <a:srgbClr val="FFC734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0" y="42062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KHUYẾN NGHỊ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663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Khuyến nghị: </a:t>
            </a:r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án C — Monorepo + Shared Core. </a:t>
            </a:r>
            <a:pPr algn="ctr" indent="0" marL="0">
              <a:buNone/>
            </a:pPr>
            <a:r>
              <a:rPr lang="en-US" sz="110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Đúng bối cảnh Droppii hiện tại — giải quyết triệt để use case L3→L4.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0DBC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7B8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DROPPII FUNNEL OS  /  MASTER PLAN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315200" y="4864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FFC73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MƯU CÔNG  ·  CONVERSION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Dự phóng chuyển hóa — 500 lead/tháng (tháng 6)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4937760" cy="384048"/>
          </a:xfrm>
          <a:prstGeom prst="rect">
            <a:avLst/>
          </a:prstGeom>
          <a:solidFill>
            <a:srgbClr val="FFC73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173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  Lead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46320" y="14173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23560" y="141732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10/ngày T1 → 25/ngày T3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4114800" cy="3840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9659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 Buyer 10%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23360" y="19659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196596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 590k  →  29,5tr/tháng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514600"/>
            <a:ext cx="3291840" cy="384048"/>
          </a:xfrm>
          <a:prstGeom prst="rect">
            <a:avLst/>
          </a:prstGeom>
          <a:solidFill>
            <a:srgbClr val="1A3A75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5146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 Buyer 25%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251460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77640" y="251460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 4tr  →  52tr/tháng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063240"/>
            <a:ext cx="2468880" cy="384048"/>
          </a:xfrm>
          <a:prstGeom prst="rect">
            <a:avLst/>
          </a:prstGeom>
          <a:solidFill>
            <a:srgbClr val="0F2A5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0632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 Buyer 30%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77440" y="306324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154680" y="3063240"/>
            <a:ext cx="562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 18tr  →  72tr/tháng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611880"/>
            <a:ext cx="1737360" cy="3840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6118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 CTV 15%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45920" y="361188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423160" y="3611880"/>
            <a:ext cx="6355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~50-100tr/CTV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0" y="4023360"/>
            <a:ext cx="3108960" cy="713232"/>
          </a:xfrm>
          <a:prstGeom prst="rect">
            <a:avLst/>
          </a:prstGeom>
          <a:solidFill>
            <a:srgbClr val="0F2A5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623560" y="406908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FFC7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DOANH THU / THÁNG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623560" y="4251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~153,5 triệu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48640" y="429768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B8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Tháng 6 — chưa tính LTV cohort &amp; nhân hệ số CTV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0DB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7B8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DROPPII FUNNEL OS  /  MASTER PLAN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315200" y="4864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FFC73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 CHIẾN  ·  TÀI CHÍNH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 phí đầu tư — CAPEX &amp; OPEX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402336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BC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71600"/>
            <a:ext cx="4023360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 ·  6 TUẦN MVP  (1 lần)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Auto-CTO + 4 worker AI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383280" y="187452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2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Sunk cost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21671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người review &amp; deploy (~30h)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83280" y="216712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2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7,5tr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24597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(15 post + 30 email + 50 copy)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83280" y="245973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2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8,0tr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27523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(banner, OG, ebook)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83280" y="275234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2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4,0tr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30449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review TPCN compliance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83280" y="304495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2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3,0tr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33375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10%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83280" y="333756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2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2,25tr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630168"/>
            <a:ext cx="3749040" cy="0"/>
          </a:xfrm>
          <a:prstGeom prst="line">
            <a:avLst/>
          </a:prstGeom>
          <a:noFill/>
          <a:ln w="12700">
            <a:solidFill>
              <a:srgbClr val="E0DB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675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CAPEX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0" y="367588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~24,75tr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617720" y="1371600"/>
            <a:ext cx="402336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BC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17720" y="1371600"/>
            <a:ext cx="4023360" cy="411480"/>
          </a:xfrm>
          <a:prstGeom prst="rect">
            <a:avLst/>
          </a:prstGeom>
          <a:solidFill>
            <a:srgbClr val="0F2A5F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13716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 / THÁNG  ·  3 MỨC TRAFFIC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18745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Hạng mục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766560" y="1874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50/th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406640" y="1874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500/th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046720" y="1874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5K/th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0" y="2148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(Pages/D1/W/R2/KV)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766560" y="21488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2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~50k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406640" y="21488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2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~400k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046720" y="21488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2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~3,0tr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54880" y="24048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Zalo OA (Standard → Premium)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766560" y="24048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2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150k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406640" y="24048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2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150k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046720" y="24048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2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1,5tr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754880" y="26609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API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766560" y="26609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2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~700k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406640" y="26609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2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~5tr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046720" y="26609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2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~35tr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754880" y="29169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PayOS phí giao dịch (~2%)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766560" y="291693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2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~200k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406640" y="291693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2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~3tr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046720" y="291693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2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~30tr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754880" y="3172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 Ads (CAC)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766560" y="31729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2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~3tr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406640" y="31729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2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~25tr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8046720" y="31729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2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~200tr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754880" y="34290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/ Domain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766560" y="34290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2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~30k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406640" y="34290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2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~280k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8046720" y="34290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2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~630k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754880" y="3685032"/>
            <a:ext cx="3749040" cy="0"/>
          </a:xfrm>
          <a:prstGeom prst="line">
            <a:avLst/>
          </a:prstGeom>
          <a:noFill/>
          <a:ln w="12700">
            <a:solidFill>
              <a:srgbClr val="E0DBC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54880" y="37307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/ THÁNG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766560" y="37307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2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~4,1tr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406640" y="37307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2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~33,8tr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8046720" y="37307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2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~270tr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0DBC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7B8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DROPPII FUNNEL OS  /  MASTER PLAN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7315200" y="4864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FFC73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MƯU CÔNG  ·  ROI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Break-even tháng 3 — ROI 4-6× trong 12 tháng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417320"/>
          <a:ext cx="52120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897880" y="1417320"/>
            <a:ext cx="27432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BC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897880" y="1417320"/>
            <a:ext cx="73152" cy="960120"/>
          </a:xfrm>
          <a:prstGeom prst="rect">
            <a:avLst/>
          </a:prstGeom>
          <a:solidFill>
            <a:srgbClr val="2A8C5A"/>
          </a:solidFill>
          <a:ln/>
        </p:spPr>
      </p:sp>
      <p:sp>
        <p:nvSpPr>
          <p:cNvPr id="8" name="Text 5"/>
          <p:cNvSpPr/>
          <p:nvPr/>
        </p:nvSpPr>
        <p:spPr>
          <a:xfrm>
            <a:off x="6080760" y="15270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8C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Tháng 3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080760" y="19842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điểm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897880" y="2496312"/>
            <a:ext cx="27432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BC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97880" y="2496312"/>
            <a:ext cx="73152" cy="9601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9"/>
          <p:cNvSpPr/>
          <p:nvPr/>
        </p:nvSpPr>
        <p:spPr>
          <a:xfrm>
            <a:off x="6080760" y="2606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+207tr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6080760" y="3063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Lợi nhuận tích lũy T5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897880" y="3575304"/>
            <a:ext cx="27432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BC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897880" y="3575304"/>
            <a:ext cx="73152" cy="9601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3"/>
          <p:cNvSpPr/>
          <p:nvPr/>
        </p:nvSpPr>
        <p:spPr>
          <a:xfrm>
            <a:off x="6080760" y="36850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60-70%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6080760" y="41422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 Tân Binh 4 tuần (vs 30% hiện tại)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02920" y="46177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B8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Năm 1 đầu tư ~340tr  →  hòa vốn cuối Q3-2026 nếu giữ conversion mục tiêu.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0DBC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7B8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DROPPII FUNNEL OS  /  MASTER PLAN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7315200" y="4864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FFC73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HÀNH QUÂN  ·  RỦI RO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rủi ro hàng đầu — đã có mitigation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8138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DBC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71600"/>
            <a:ext cx="594360" cy="5669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7160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234440" y="143560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TPCN — quảng cáo "trị bệnh" trái luật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166420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2A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thiểu:  </a:t>
            </a:r>
            <a:pPr indent="0" marL="0">
              <a:buNone/>
            </a:pPr>
            <a:r>
              <a:rPr lang="en-US" sz="95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Engine guardrail khóa từ "trị/chữa/khỏi"; legal review trước launch; mọi claim trích dẫn nguồn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011680"/>
            <a:ext cx="8138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DBC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011680"/>
            <a:ext cx="594360" cy="5669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01168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34440" y="207568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Zalo OA bị block vì spam — mất kênh chính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34440" y="230428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2A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thiểu:  </a:t>
            </a:r>
            <a:pPr indent="0" marL="0">
              <a:buNone/>
            </a:pPr>
            <a:r>
              <a:rPr lang="en-US" sz="95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Whisperer rate-limit 1 tin/3h/user; đa dạng nội dung; opt-out 1 click; cap 4 tin/tuần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2651760"/>
            <a:ext cx="8138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DBC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2651760"/>
            <a:ext cx="594360" cy="5669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65176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34440" y="271576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 legal — tuyển CTV qua funnel có thể bị hiểu nhầm "đa cấp không phép"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34440" y="294436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2A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thiểu:  </a:t>
            </a:r>
            <a:pPr indent="0" marL="0">
              <a:buNone/>
            </a:pPr>
            <a:r>
              <a:rPr lang="en-US" sz="95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 NĐ40/2018/NĐ-CP trên mọi invite; lưu sạch commission_pct cho audit Bộ Công Thương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3291840"/>
            <a:ext cx="8138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DBC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3291840"/>
            <a:ext cx="594360" cy="5669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29184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234440" y="335584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 hallucinate sản phẩm không có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34440" y="358444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2A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thiểu:  </a:t>
            </a:r>
            <a:pPr indent="0" marL="0">
              <a:buNone/>
            </a:pPr>
            <a:r>
              <a:rPr lang="en-US" sz="95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ràng recommended_product_id IN products table; fallback "để CTV liên hệ"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3931920"/>
            <a:ext cx="8138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DBC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3931920"/>
            <a:ext cx="594360" cy="5669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93192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234440" y="399592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quá tải duyệt invite L3→L4 — bottleneck conversion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234440" y="422452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2A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thiểu:  </a:t>
            </a:r>
            <a:pPr indent="0" marL="0">
              <a:buNone/>
            </a:pPr>
            <a:r>
              <a:rPr lang="en-US" sz="95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 cho khách thoả ≥3 tiêu chí; leader chỉ duyệt edge case; SLA 48h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0DB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7B8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DROPPII FUNNEL OS  /  MASTER PLAN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315200" y="4864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FFC73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QUÂN TRANH  ·  HỎA CÔNG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MVP — 6 tuần Blitz Campaign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8046720" cy="36576"/>
          </a:xfrm>
          <a:prstGeom prst="rect">
            <a:avLst/>
          </a:prstGeom>
          <a:solidFill>
            <a:srgbClr val="E0DBC8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417320"/>
            <a:ext cx="124968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BC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417320"/>
            <a:ext cx="1249680" cy="54864"/>
          </a:xfrm>
          <a:prstGeom prst="rect">
            <a:avLst/>
          </a:prstGeom>
          <a:solidFill>
            <a:srgbClr val="5A6275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508760"/>
            <a:ext cx="124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2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1874520"/>
            <a:ext cx="124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194560"/>
            <a:ext cx="1112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8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migrate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8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schema ext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8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JWT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8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Landing+Quiz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100328" y="4069080"/>
            <a:ext cx="237744" cy="237744"/>
          </a:xfrm>
          <a:prstGeom prst="ellipse">
            <a:avLst/>
          </a:prstGeom>
          <a:solidFill>
            <a:srgbClr val="5A627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35480" y="1417320"/>
            <a:ext cx="124968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BC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35480" y="1417320"/>
            <a:ext cx="124968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1935480" y="1508760"/>
            <a:ext cx="124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935480" y="1874520"/>
            <a:ext cx="124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 + Zalo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26920" y="2194560"/>
            <a:ext cx="1112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8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capture API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8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 Discovery Coach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8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UI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8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Zalo OA bridge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441448" y="4069080"/>
            <a:ext cx="237744" cy="237744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76600" y="1417320"/>
            <a:ext cx="124968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BC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76600" y="1417320"/>
            <a:ext cx="1249680" cy="54864"/>
          </a:xfrm>
          <a:prstGeom prst="rect">
            <a:avLst/>
          </a:prstGeom>
          <a:solidFill>
            <a:srgbClr val="FFC734"/>
          </a:solidFill>
          <a:ln/>
        </p:spPr>
      </p:sp>
      <p:sp>
        <p:nvSpPr>
          <p:cNvPr id="20" name="Text 18"/>
          <p:cNvSpPr/>
          <p:nvPr/>
        </p:nvSpPr>
        <p:spPr>
          <a:xfrm>
            <a:off x="3276600" y="1508760"/>
            <a:ext cx="124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7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276600" y="1874520"/>
            <a:ext cx="124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+ Checkout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68040" y="2194560"/>
            <a:ext cx="1112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8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CRUD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8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+ PayOS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8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Whisperer cron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782568" y="4069080"/>
            <a:ext cx="237744" cy="237744"/>
          </a:xfrm>
          <a:prstGeom prst="ellipse">
            <a:avLst/>
          </a:prstGeom>
          <a:solidFill>
            <a:srgbClr val="FFC73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7720" y="1417320"/>
            <a:ext cx="124968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BC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1417320"/>
            <a:ext cx="1249680" cy="54864"/>
          </a:xfrm>
          <a:prstGeom prst="rect">
            <a:avLst/>
          </a:prstGeom>
          <a:solidFill>
            <a:srgbClr val="2A8C5A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1508760"/>
            <a:ext cx="124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8C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617720" y="1874520"/>
            <a:ext cx="124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Journey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09160" y="2194560"/>
            <a:ext cx="1112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8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dashboard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8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Companion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8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Matchmaker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123688" y="4069080"/>
            <a:ext cx="237744" cy="237744"/>
          </a:xfrm>
          <a:prstGeom prst="ellipse">
            <a:avLst/>
          </a:prstGeom>
          <a:solidFill>
            <a:srgbClr val="2A8C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58840" y="1417320"/>
            <a:ext cx="124968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BC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58840" y="1417320"/>
            <a:ext cx="1249680" cy="54864"/>
          </a:xfrm>
          <a:prstGeom prst="rect">
            <a:avLst/>
          </a:prstGeom>
          <a:solidFill>
            <a:srgbClr val="1A3A75"/>
          </a:solidFill>
          <a:ln/>
        </p:spPr>
      </p:sp>
      <p:sp>
        <p:nvSpPr>
          <p:cNvPr id="32" name="Text 30"/>
          <p:cNvSpPr/>
          <p:nvPr/>
        </p:nvSpPr>
        <p:spPr>
          <a:xfrm>
            <a:off x="5958840" y="1508760"/>
            <a:ext cx="124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958840" y="1874520"/>
            <a:ext cx="124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+ Analytics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50280" y="2194560"/>
            <a:ext cx="1112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8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Scout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8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→ Academy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8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analytics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464808" y="4069080"/>
            <a:ext cx="237744" cy="237744"/>
          </a:xfrm>
          <a:prstGeom prst="ellipse">
            <a:avLst/>
          </a:prstGeom>
          <a:solidFill>
            <a:srgbClr val="1A3A7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99960" y="1417320"/>
            <a:ext cx="124968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BC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299960" y="1417320"/>
            <a:ext cx="124968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8" name="Text 36"/>
          <p:cNvSpPr/>
          <p:nvPr/>
        </p:nvSpPr>
        <p:spPr>
          <a:xfrm>
            <a:off x="7299960" y="1508760"/>
            <a:ext cx="124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W6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299960" y="1874520"/>
            <a:ext cx="124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Launch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391400" y="2194560"/>
            <a:ext cx="1112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8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test L0→L3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8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seed 5 ads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8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lead pilot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805928" y="4069080"/>
            <a:ext cx="237744" cy="237744"/>
          </a:xfrm>
          <a:prstGeom prst="ellipse">
            <a:avLst/>
          </a:prstGeom>
          <a:solidFill>
            <a:srgbClr val="C039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Đường găng (critical path):  </a:t>
            </a:r>
            <a:pPr algn="ctr" indent="0" marL="0">
              <a:buNone/>
            </a:pPr>
            <a:r>
              <a:rPr lang="en-US" sz="950" dirty="0">
                <a:solidFill>
                  <a:srgbClr val="5A62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T-026 → T-027 → T-035 → T-040 → T-043   ·   </a:t>
            </a:r>
            <a:pPr algn="ctr" indent="0" marL="0">
              <a:buNone/>
            </a:pPr>
            <a:r>
              <a:rPr lang="en-US" sz="9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worker AI song song = </a:t>
            </a:r>
            <a:pPr algn="ctr" indent="0" marL="0">
              <a:buNone/>
            </a:pPr>
            <a:r>
              <a:rPr lang="en-US" sz="950" b="1" dirty="0">
                <a:solidFill>
                  <a:srgbClr val="0F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7-9 ngày dev thực</a:t>
            </a:r>
            <a:pPr algn="ctr" indent="0" marL="0">
              <a:buNone/>
            </a:pPr>
            <a:r>
              <a:rPr lang="en-US" sz="9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(6 tuần lịch để buffer review/legal/content).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0DBC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7B8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DROPPII FUNNEL OS  /  MASTER PLAN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315200" y="4864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FFC73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DỤNG GIÁN  ·  DECISION POINTS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quyết định Leader cần chốt trước khi T-026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0604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BC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60604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71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NGÂN SÁCH &amp; PHÁP LÝ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3000" y="19659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CAPEX 24,75tr cho 6 tuần MVP?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834640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" y="28346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OPEX trần 5tr/tháng pilot 3 tháng đầu?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703320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37033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vị pháp lý đứng ra Zalo OA + chịu compliance TPCN?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46120" y="1371600"/>
            <a:ext cx="260604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BC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1371600"/>
            <a:ext cx="2606040" cy="4572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0" y="1371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 &amp; HOA HỒNG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29000" y="1965960"/>
            <a:ext cx="411480" cy="4114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342900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31920" y="19659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mục SKU L1 (3-5 món &lt;1tr): catalog Droppii hay bundle riêng?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29000" y="2834640"/>
            <a:ext cx="411480" cy="4114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4" name="Text 22"/>
          <p:cNvSpPr/>
          <p:nvPr/>
        </p:nvSpPr>
        <p:spPr>
          <a:xfrm>
            <a:off x="342900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31920" y="28346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commission CTV trong funnel — khác Academy không?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29000" y="3703320"/>
            <a:ext cx="411480" cy="4114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31920" y="37033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L4 vào team leader nào? Auto theo source/region/recruit?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1371600"/>
            <a:ext cx="260604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BC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1371600"/>
            <a:ext cx="2606040" cy="457200"/>
          </a:xfrm>
          <a:prstGeom prst="rect">
            <a:avLst/>
          </a:prstGeom>
          <a:solidFill>
            <a:srgbClr val="0F2A5F"/>
          </a:solidFill>
          <a:ln/>
        </p:spPr>
      </p:sp>
      <p:sp>
        <p:nvSpPr>
          <p:cNvPr id="31" name="Text 29"/>
          <p:cNvSpPr/>
          <p:nvPr/>
        </p:nvSpPr>
        <p:spPr>
          <a:xfrm>
            <a:off x="6172200" y="1371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VẬN HÀNH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17920" y="1965960"/>
            <a:ext cx="411480" cy="411480"/>
          </a:xfrm>
          <a:prstGeom prst="ellipse">
            <a:avLst/>
          </a:prstGeom>
          <a:solidFill>
            <a:srgbClr val="0F2A5F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20840" y="19659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là Zalo OA Operator (đứng tên + reply escalate)?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2834640"/>
            <a:ext cx="411480" cy="411480"/>
          </a:xfrm>
          <a:prstGeom prst="ellipse">
            <a:avLst/>
          </a:prstGeom>
          <a:solidFill>
            <a:srgbClr val="0F2A5F"/>
          </a:solidFill>
          <a:ln/>
        </p:spPr>
      </p:sp>
      <p:sp>
        <p:nvSpPr>
          <p:cNvPr id="36" name="Text 34"/>
          <p:cNvSpPr/>
          <p:nvPr/>
        </p:nvSpPr>
        <p:spPr>
          <a:xfrm>
            <a:off x="621792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20840" y="28346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là Content Editor duyệt AI Coach trước production?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17920" y="3703320"/>
            <a:ext cx="411480" cy="411480"/>
          </a:xfrm>
          <a:prstGeom prst="ellipse">
            <a:avLst/>
          </a:prstGeom>
          <a:solidFill>
            <a:srgbClr val="0F2A5F"/>
          </a:solidFill>
          <a:ln/>
        </p:spPr>
      </p:sp>
      <p:sp>
        <p:nvSpPr>
          <p:cNvPr id="39" name="Text 37"/>
          <p:cNvSpPr/>
          <p:nvPr/>
        </p:nvSpPr>
        <p:spPr>
          <a:xfrm>
            <a:off x="621792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20840" y="37033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D-Day Pilot mục tiêu? (đề xuất: giữa T6/2026)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47091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Trả lời 9 mục này, Auto-CTO load 18 task vào tasks.json và bắt đầu T-026 trong 24h.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0DBC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7B8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DROPPII FUNNEL OS  /  MASTER PLAN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315200" y="4864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640080" cy="640080"/>
          </a:xfrm>
          <a:prstGeom prst="hexagon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777240"/>
            <a:ext cx="502920" cy="502920"/>
          </a:xfrm>
          <a:prstGeom prst="hexagon">
            <a:avLst/>
          </a:prstGeom>
          <a:solidFill>
            <a:srgbClr val="FFC734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43000"/>
            <a:ext cx="411480" cy="411480"/>
          </a:xfrm>
          <a:prstGeom prst="hexagon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Mỗi tổ ong mạnh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không nhờ một con ong giỏi.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371600" y="2331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DC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Tổ ong mạnh nhờ </a:t>
            </a:r>
            <a:pPr indent="0" marL="0">
              <a:buNone/>
            </a:pPr>
            <a:r>
              <a:rPr lang="en-US" sz="1800" b="1" i="1" dirty="0">
                <a:solidFill>
                  <a:srgbClr val="FFC7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hệ thống — vai trò rõ — luật rõ</a:t>
            </a:r>
            <a:pPr indent="0" marL="0">
              <a:buNone/>
            </a:pPr>
            <a:r>
              <a:rPr lang="en-US" sz="1800" i="1" dirty="0">
                <a:solidFill>
                  <a:srgbClr val="E8DC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luôn vận hành kể cả khi không có Queen.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71600" y="3154680"/>
            <a:ext cx="6400800" cy="0"/>
          </a:xfrm>
          <a:prstGeom prst="line">
            <a:avLst/>
          </a:prstGeom>
          <a:noFill/>
          <a:ln w="9525">
            <a:solidFill>
              <a:srgbClr val="FFC7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32461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FC7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TIẾP THEO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71600" y="3520440"/>
            <a:ext cx="292608" cy="292608"/>
          </a:xfrm>
          <a:prstGeom prst="ellipse">
            <a:avLst/>
          </a:prstGeom>
          <a:solidFill>
            <a:srgbClr val="FFC734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83080" y="35204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họp duyệt phương án C + 9 quyết định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371600" y="3886200"/>
            <a:ext cx="292608" cy="292608"/>
          </a:xfrm>
          <a:prstGeom prst="ellipse">
            <a:avLst/>
          </a:prstGeom>
          <a:solidFill>
            <a:srgbClr val="FFC734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3886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83080" y="38862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Auto-CTO load 18 task → 4 worker AI fan-out 7-9 ngày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371600" y="4251960"/>
            <a:ext cx="292608" cy="292608"/>
          </a:xfrm>
          <a:prstGeom prst="ellipse">
            <a:avLst/>
          </a:prstGeom>
          <a:solidFill>
            <a:srgbClr val="FFC734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4251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83080" y="425196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50 lead tuần 6 → break-even T3 sau launch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371600" y="4663440"/>
            <a:ext cx="6400800" cy="292608"/>
          </a:xfrm>
          <a:prstGeom prst="rect">
            <a:avLst/>
          </a:prstGeom>
          <a:solidFill>
            <a:srgbClr val="1A3A75"/>
          </a:solidFill>
          <a:ln/>
        </p:spPr>
      </p:sp>
      <p:sp>
        <p:nvSpPr>
          <p:cNvPr id="20" name="Text 18"/>
          <p:cNvSpPr/>
          <p:nvPr/>
        </p:nvSpPr>
        <p:spPr>
          <a:xfrm>
            <a:off x="1554480" y="466344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7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/sale-mlm:cto</a:t>
            </a:r>
            <a:pPr indent="0" marL="0">
              <a:buNone/>
            </a:pPr>
            <a:r>
              <a:rPr lang="en-US" sz="1200" dirty="0">
                <a:solidFill>
                  <a:srgbClr val="C9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— để bắt đầu khi Leader duyệt.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Droppii Funnel OS — Master Plan</dc:title>
  <dc:subject>PptxGenJS Presentation</dc:subject>
  <dc:creator>Auto-CTO Hive Warfare</dc:creator>
  <cp:lastModifiedBy>Auto-CTO Hive Warfare</cp:lastModifiedBy>
  <cp:revision>1</cp:revision>
  <dcterms:created xsi:type="dcterms:W3CDTF">2026-05-09T01:15:41Z</dcterms:created>
  <dcterms:modified xsi:type="dcterms:W3CDTF">2026-05-09T01:15:41Z</dcterms:modified>
</cp:coreProperties>
</file>